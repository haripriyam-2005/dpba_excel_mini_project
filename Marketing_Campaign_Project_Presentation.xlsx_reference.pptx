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63" r:id="rId10"/>
    <p:sldId id="264" r:id="rId11"/>
    <p:sldId id="268" r:id="rId12"/>
    <p:sldId id="266" r:id="rId13"/>
    <p:sldId id="267" r:id="rId14"/>
    <p:sldId id="275" r:id="rId15"/>
    <p:sldId id="270" r:id="rId16"/>
    <p:sldId id="273" r:id="rId17"/>
    <p:sldId id="274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354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ANUDIP%20FOUNDATION\EXCEL\DASHBOARD\Marketing_Campaign_Datase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ANUDIP%20FOUNDATION\EXCEL\DASHBOARD\Marketing_Campaign_Datase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ANUDIP%20FOUNDATION\EXCEL\DASHBOARD\Marketing_Campaign_Datase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ANUDIP%20FOUNDATION\EXCEL\DASHBOARD\Marketing_Campaign_Datase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[Marketing_Campaign_Dataset.xlsx]Q1!Q1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OVERALL</a:t>
            </a:r>
            <a:r>
              <a:rPr lang="en-IN" baseline="0"/>
              <a:t> 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'Q1'!$B$3</c:f>
              <c:strCache>
                <c:ptCount val="1"/>
                <c:pt idx="0">
                  <c:v>Sum of Impressions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'Q1'!$A$4:$A$7</c:f>
              <c:strCache>
                <c:ptCount val="3"/>
                <c:pt idx="0">
                  <c:v>FIRST 1000 DATA</c:v>
                </c:pt>
                <c:pt idx="1">
                  <c:v>1001-2000</c:v>
                </c:pt>
                <c:pt idx="2">
                  <c:v>2001-3000</c:v>
                </c:pt>
              </c:strCache>
            </c:strRef>
          </c:cat>
          <c:val>
            <c:numRef>
              <c:f>'Q1'!$B$4:$B$7</c:f>
              <c:numCache>
                <c:formatCode>General</c:formatCode>
                <c:ptCount val="3"/>
                <c:pt idx="0">
                  <c:v>51576465</c:v>
                </c:pt>
                <c:pt idx="1">
                  <c:v>50891174</c:v>
                </c:pt>
                <c:pt idx="2">
                  <c:v>49132490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8F-4B55-AABF-0D220183DD23}"/>
            </c:ext>
          </c:extLst>
        </c:ser>
        <c:ser>
          <c:idx val="1"/>
          <c:order val="1"/>
          <c:tx>
            <c:strRef>
              <c:f>'Q1'!$C$3</c:f>
              <c:strCache>
                <c:ptCount val="1"/>
                <c:pt idx="0">
                  <c:v>Sum of Clicks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'Q1'!$A$4:$A$7</c:f>
              <c:strCache>
                <c:ptCount val="3"/>
                <c:pt idx="0">
                  <c:v>FIRST 1000 DATA</c:v>
                </c:pt>
                <c:pt idx="1">
                  <c:v>1001-2000</c:v>
                </c:pt>
                <c:pt idx="2">
                  <c:v>2001-3000</c:v>
                </c:pt>
              </c:strCache>
            </c:strRef>
          </c:cat>
          <c:val>
            <c:numRef>
              <c:f>'Q1'!$C$4:$C$7</c:f>
              <c:numCache>
                <c:formatCode>General</c:formatCode>
                <c:ptCount val="3"/>
                <c:pt idx="0">
                  <c:v>4217169</c:v>
                </c:pt>
                <c:pt idx="1">
                  <c:v>4149154</c:v>
                </c:pt>
                <c:pt idx="2">
                  <c:v>3849403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98F-4B55-AABF-0D220183DD23}"/>
            </c:ext>
          </c:extLst>
        </c:ser>
        <c:ser>
          <c:idx val="2"/>
          <c:order val="2"/>
          <c:tx>
            <c:strRef>
              <c:f>'Q1'!$D$3</c:f>
              <c:strCache>
                <c:ptCount val="1"/>
                <c:pt idx="0">
                  <c:v>Sum of ROI (%)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'Q1'!$A$4:$A$7</c:f>
              <c:strCache>
                <c:ptCount val="3"/>
                <c:pt idx="0">
                  <c:v>FIRST 1000 DATA</c:v>
                </c:pt>
                <c:pt idx="1">
                  <c:v>1001-2000</c:v>
                </c:pt>
                <c:pt idx="2">
                  <c:v>2001-3000</c:v>
                </c:pt>
              </c:strCache>
            </c:strRef>
          </c:cat>
          <c:val>
            <c:numRef>
              <c:f>'Q1'!$D$4:$D$7</c:f>
              <c:numCache>
                <c:formatCode>General</c:formatCode>
                <c:ptCount val="3"/>
                <c:pt idx="0">
                  <c:v>5888947.1000000024</c:v>
                </c:pt>
                <c:pt idx="1">
                  <c:v>7017058.7200000128</c:v>
                </c:pt>
                <c:pt idx="2">
                  <c:v>8069454.5799999936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98F-4B55-AABF-0D220183DD23}"/>
            </c:ext>
          </c:extLst>
        </c:ser>
        <c:ser>
          <c:idx val="3"/>
          <c:order val="3"/>
          <c:tx>
            <c:strRef>
              <c:f>'Q1'!$E$3</c:f>
              <c:strCache>
                <c:ptCount val="1"/>
                <c:pt idx="0">
                  <c:v>Sum of Conversion Rate (%)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'Q1'!$A$4:$A$7</c:f>
              <c:strCache>
                <c:ptCount val="3"/>
                <c:pt idx="0">
                  <c:v>FIRST 1000 DATA</c:v>
                </c:pt>
                <c:pt idx="1">
                  <c:v>1001-2000</c:v>
                </c:pt>
                <c:pt idx="2">
                  <c:v>2001-3000</c:v>
                </c:pt>
              </c:strCache>
            </c:strRef>
          </c:cat>
          <c:val>
            <c:numRef>
              <c:f>'Q1'!$E$4:$E$7</c:f>
              <c:numCache>
                <c:formatCode>General</c:formatCode>
                <c:ptCount val="3"/>
                <c:pt idx="0">
                  <c:v>13288.039999999997</c:v>
                </c:pt>
                <c:pt idx="1">
                  <c:v>13691.339999999991</c:v>
                </c:pt>
                <c:pt idx="2">
                  <c:v>13612.609999999988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98F-4B55-AABF-0D220183DD23}"/>
            </c:ext>
          </c:extLst>
        </c:ser>
        <c:ser>
          <c:idx val="4"/>
          <c:order val="4"/>
          <c:tx>
            <c:strRef>
              <c:f>'Q1'!$F$3</c:f>
              <c:strCache>
                <c:ptCount val="1"/>
                <c:pt idx="0">
                  <c:v>Sum of Revenue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'Q1'!$A$4:$A$7</c:f>
              <c:strCache>
                <c:ptCount val="3"/>
                <c:pt idx="0">
                  <c:v>FIRST 1000 DATA</c:v>
                </c:pt>
                <c:pt idx="1">
                  <c:v>1001-2000</c:v>
                </c:pt>
                <c:pt idx="2">
                  <c:v>2001-3000</c:v>
                </c:pt>
              </c:strCache>
            </c:strRef>
          </c:cat>
          <c:val>
            <c:numRef>
              <c:f>'Q1'!$F$4:$F$7</c:f>
              <c:numCache>
                <c:formatCode>General</c:formatCode>
                <c:ptCount val="3"/>
                <c:pt idx="0">
                  <c:v>729257464</c:v>
                </c:pt>
                <c:pt idx="1">
                  <c:v>749292833</c:v>
                </c:pt>
                <c:pt idx="2">
                  <c:v>693991649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98F-4B55-AABF-0D220183DD23}"/>
            </c:ext>
          </c:extLst>
        </c:ser>
        <c:ser>
          <c:idx val="5"/>
          <c:order val="5"/>
          <c:tx>
            <c:strRef>
              <c:f>'Q1'!$G$3</c:f>
              <c:strCache>
                <c:ptCount val="1"/>
                <c:pt idx="0">
                  <c:v>Sum of Conversions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'Q1'!$A$4:$A$7</c:f>
              <c:strCache>
                <c:ptCount val="3"/>
                <c:pt idx="0">
                  <c:v>FIRST 1000 DATA</c:v>
                </c:pt>
                <c:pt idx="1">
                  <c:v>1001-2000</c:v>
                </c:pt>
                <c:pt idx="2">
                  <c:v>2001-3000</c:v>
                </c:pt>
              </c:strCache>
            </c:strRef>
          </c:cat>
          <c:val>
            <c:numRef>
              <c:f>'Q1'!$G$4:$G$7</c:f>
              <c:numCache>
                <c:formatCode>General</c:formatCode>
                <c:ptCount val="3"/>
                <c:pt idx="0">
                  <c:v>556854</c:v>
                </c:pt>
                <c:pt idx="1">
                  <c:v>565297</c:v>
                </c:pt>
                <c:pt idx="2">
                  <c:v>511152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98F-4B55-AABF-0D220183DD23}"/>
            </c:ext>
          </c:extLst>
        </c:ser>
        <c:ser>
          <c:idx val="6"/>
          <c:order val="6"/>
          <c:tx>
            <c:strRef>
              <c:f>'Q1'!$H$3</c:f>
              <c:strCache>
                <c:ptCount val="1"/>
                <c:pt idx="0">
                  <c:v>Sum of Campaign Spend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'Q1'!$A$4:$A$7</c:f>
              <c:strCache>
                <c:ptCount val="3"/>
                <c:pt idx="0">
                  <c:v>FIRST 1000 DATA</c:v>
                </c:pt>
                <c:pt idx="1">
                  <c:v>1001-2000</c:v>
                </c:pt>
                <c:pt idx="2">
                  <c:v>2001-3000</c:v>
                </c:pt>
              </c:strCache>
            </c:strRef>
          </c:cat>
          <c:val>
            <c:numRef>
              <c:f>'Q1'!$H$4:$H$7</c:f>
              <c:numCache>
                <c:formatCode>General</c:formatCode>
                <c:ptCount val="3"/>
                <c:pt idx="0">
                  <c:v>25118982</c:v>
                </c:pt>
                <c:pt idx="1">
                  <c:v>25047149</c:v>
                </c:pt>
                <c:pt idx="2">
                  <c:v>25497612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98F-4B55-AABF-0D220183DD23}"/>
            </c:ext>
          </c:extLst>
        </c:ser>
        <c:ser>
          <c:idx val="7"/>
          <c:order val="7"/>
          <c:tx>
            <c:strRef>
              <c:f>'Q1'!$I$3</c:f>
              <c:strCache>
                <c:ptCount val="1"/>
                <c:pt idx="0">
                  <c:v>Sum of CTR (%)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'Q1'!$A$4:$A$7</c:f>
              <c:strCache>
                <c:ptCount val="3"/>
                <c:pt idx="0">
                  <c:v>FIRST 1000 DATA</c:v>
                </c:pt>
                <c:pt idx="1">
                  <c:v>1001-2000</c:v>
                </c:pt>
                <c:pt idx="2">
                  <c:v>2001-3000</c:v>
                </c:pt>
              </c:strCache>
            </c:strRef>
          </c:cat>
          <c:val>
            <c:numRef>
              <c:f>'Q1'!$I$4:$I$7</c:f>
              <c:numCache>
                <c:formatCode>General</c:formatCode>
                <c:ptCount val="3"/>
                <c:pt idx="0">
                  <c:v>8077.2499999999982</c:v>
                </c:pt>
                <c:pt idx="1">
                  <c:v>8152.889999999994</c:v>
                </c:pt>
                <c:pt idx="2">
                  <c:v>7804.3800000000028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98F-4B55-AABF-0D220183DD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33088720"/>
        <c:axId val="333081232"/>
      </c:barChart>
      <c:catAx>
        <c:axId val="333088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3081232"/>
        <c:crosses val="autoZero"/>
        <c:auto val="1"/>
        <c:lblAlgn val="ctr"/>
        <c:lblOffset val="100"/>
        <c:noMultiLvlLbl val="0"/>
      </c:catAx>
      <c:valAx>
        <c:axId val="3330812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30887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[Marketing_Campaign_Dataset.xlsx]Q2!Q2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 TOTAL</a:t>
            </a:r>
            <a:r>
              <a:rPr lang="en-IN" baseline="0"/>
              <a:t> ENGAGAMENT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'Q2'!$B$3</c:f>
              <c:strCache>
                <c:ptCount val="1"/>
                <c:pt idx="0">
                  <c:v>Sum of Conversions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'Q2'!$A$4:$A$12</c:f>
              <c:strCache>
                <c:ptCount val="8"/>
                <c:pt idx="0">
                  <c:v>Email</c:v>
                </c:pt>
                <c:pt idx="1">
                  <c:v>Facebook Ads</c:v>
                </c:pt>
                <c:pt idx="2">
                  <c:v>Google Ads</c:v>
                </c:pt>
                <c:pt idx="3">
                  <c:v>Instagram Ads</c:v>
                </c:pt>
                <c:pt idx="4">
                  <c:v>LinkedIn Ads</c:v>
                </c:pt>
                <c:pt idx="5">
                  <c:v>SMS</c:v>
                </c:pt>
                <c:pt idx="6">
                  <c:v>Social Media</c:v>
                </c:pt>
                <c:pt idx="7">
                  <c:v>YouTube Ads</c:v>
                </c:pt>
              </c:strCache>
            </c:strRef>
          </c:cat>
          <c:val>
            <c:numRef>
              <c:f>'Q2'!$B$4:$B$12</c:f>
              <c:numCache>
                <c:formatCode>General</c:formatCode>
                <c:ptCount val="8"/>
                <c:pt idx="0">
                  <c:v>240213</c:v>
                </c:pt>
                <c:pt idx="1">
                  <c:v>222849</c:v>
                </c:pt>
                <c:pt idx="2">
                  <c:v>199539</c:v>
                </c:pt>
                <c:pt idx="3">
                  <c:v>214696</c:v>
                </c:pt>
                <c:pt idx="4">
                  <c:v>192905</c:v>
                </c:pt>
                <c:pt idx="5">
                  <c:v>193323</c:v>
                </c:pt>
                <c:pt idx="6">
                  <c:v>180271</c:v>
                </c:pt>
                <c:pt idx="7">
                  <c:v>189507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28-4485-89C0-9F45352D50AE}"/>
            </c:ext>
          </c:extLst>
        </c:ser>
        <c:ser>
          <c:idx val="1"/>
          <c:order val="1"/>
          <c:tx>
            <c:strRef>
              <c:f>'Q2'!$C$3</c:f>
              <c:strCache>
                <c:ptCount val="1"/>
                <c:pt idx="0">
                  <c:v>Sum of Clicks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'Q2'!$A$4:$A$12</c:f>
              <c:strCache>
                <c:ptCount val="8"/>
                <c:pt idx="0">
                  <c:v>Email</c:v>
                </c:pt>
                <c:pt idx="1">
                  <c:v>Facebook Ads</c:v>
                </c:pt>
                <c:pt idx="2">
                  <c:v>Google Ads</c:v>
                </c:pt>
                <c:pt idx="3">
                  <c:v>Instagram Ads</c:v>
                </c:pt>
                <c:pt idx="4">
                  <c:v>LinkedIn Ads</c:v>
                </c:pt>
                <c:pt idx="5">
                  <c:v>SMS</c:v>
                </c:pt>
                <c:pt idx="6">
                  <c:v>Social Media</c:v>
                </c:pt>
                <c:pt idx="7">
                  <c:v>YouTube Ads</c:v>
                </c:pt>
              </c:strCache>
            </c:strRef>
          </c:cat>
          <c:val>
            <c:numRef>
              <c:f>'Q2'!$C$4:$C$12</c:f>
              <c:numCache>
                <c:formatCode>General</c:formatCode>
                <c:ptCount val="8"/>
                <c:pt idx="0">
                  <c:v>1658575</c:v>
                </c:pt>
                <c:pt idx="1">
                  <c:v>1639213</c:v>
                </c:pt>
                <c:pt idx="2">
                  <c:v>1544927</c:v>
                </c:pt>
                <c:pt idx="3">
                  <c:v>1623641</c:v>
                </c:pt>
                <c:pt idx="4">
                  <c:v>1488402</c:v>
                </c:pt>
                <c:pt idx="5">
                  <c:v>1457067</c:v>
                </c:pt>
                <c:pt idx="6">
                  <c:v>1328129</c:v>
                </c:pt>
                <c:pt idx="7">
                  <c:v>1475772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28-4485-89C0-9F45352D50AE}"/>
            </c:ext>
          </c:extLst>
        </c:ser>
        <c:ser>
          <c:idx val="2"/>
          <c:order val="2"/>
          <c:tx>
            <c:strRef>
              <c:f>'Q2'!$D$3</c:f>
              <c:strCache>
                <c:ptCount val="1"/>
                <c:pt idx="0">
                  <c:v>Sum of Impressions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'Q2'!$A$4:$A$12</c:f>
              <c:strCache>
                <c:ptCount val="8"/>
                <c:pt idx="0">
                  <c:v>Email</c:v>
                </c:pt>
                <c:pt idx="1">
                  <c:v>Facebook Ads</c:v>
                </c:pt>
                <c:pt idx="2">
                  <c:v>Google Ads</c:v>
                </c:pt>
                <c:pt idx="3">
                  <c:v>Instagram Ads</c:v>
                </c:pt>
                <c:pt idx="4">
                  <c:v>LinkedIn Ads</c:v>
                </c:pt>
                <c:pt idx="5">
                  <c:v>SMS</c:v>
                </c:pt>
                <c:pt idx="6">
                  <c:v>Social Media</c:v>
                </c:pt>
                <c:pt idx="7">
                  <c:v>YouTube Ads</c:v>
                </c:pt>
              </c:strCache>
            </c:strRef>
          </c:cat>
          <c:val>
            <c:numRef>
              <c:f>'Q2'!$D$4:$D$12</c:f>
              <c:numCache>
                <c:formatCode>General</c:formatCode>
                <c:ptCount val="8"/>
                <c:pt idx="0">
                  <c:v>19946090</c:v>
                </c:pt>
                <c:pt idx="1">
                  <c:v>20026218</c:v>
                </c:pt>
                <c:pt idx="2">
                  <c:v>18903150</c:v>
                </c:pt>
                <c:pt idx="3">
                  <c:v>20313335</c:v>
                </c:pt>
                <c:pt idx="4">
                  <c:v>18214250</c:v>
                </c:pt>
                <c:pt idx="5">
                  <c:v>17891015</c:v>
                </c:pt>
                <c:pt idx="6">
                  <c:v>17684192</c:v>
                </c:pt>
                <c:pt idx="7">
                  <c:v>18621879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C28-4485-89C0-9F45352D50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33108688"/>
        <c:axId val="333113264"/>
      </c:barChart>
      <c:catAx>
        <c:axId val="33310868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3113264"/>
        <c:crosses val="autoZero"/>
        <c:auto val="1"/>
        <c:lblAlgn val="ctr"/>
        <c:lblOffset val="100"/>
        <c:noMultiLvlLbl val="0"/>
      </c:catAx>
      <c:valAx>
        <c:axId val="333113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3108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[Marketing_Campaign_Dataset.xlsx]Q3!Q3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REVENUE</a:t>
            </a:r>
            <a:r>
              <a:rPr lang="en-IN" baseline="0"/>
              <a:t> BY CAMPAIGNS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'Q3'!$B$3</c:f>
              <c:strCache>
                <c:ptCount val="1"/>
                <c:pt idx="0">
                  <c:v>Sum of Campaign Spend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'Q3'!$A$4:$A$10</c:f>
              <c:strCache>
                <c:ptCount val="6"/>
                <c:pt idx="0">
                  <c:v>Brand Awareness</c:v>
                </c:pt>
                <c:pt idx="1">
                  <c:v>Customer Engagement</c:v>
                </c:pt>
                <c:pt idx="2">
                  <c:v>Lead Generation</c:v>
                </c:pt>
                <c:pt idx="3">
                  <c:v>Product Launch</c:v>
                </c:pt>
                <c:pt idx="4">
                  <c:v>Retargeting</c:v>
                </c:pt>
                <c:pt idx="5">
                  <c:v>Seasonal Promotion</c:v>
                </c:pt>
              </c:strCache>
            </c:strRef>
          </c:cat>
          <c:val>
            <c:numRef>
              <c:f>'Q3'!$B$4:$B$10</c:f>
              <c:numCache>
                <c:formatCode>General</c:formatCode>
                <c:ptCount val="6"/>
                <c:pt idx="0">
                  <c:v>13664627</c:v>
                </c:pt>
                <c:pt idx="1">
                  <c:v>12176609</c:v>
                </c:pt>
                <c:pt idx="2">
                  <c:v>12285794</c:v>
                </c:pt>
                <c:pt idx="3">
                  <c:v>12547965</c:v>
                </c:pt>
                <c:pt idx="4">
                  <c:v>13036732</c:v>
                </c:pt>
                <c:pt idx="5">
                  <c:v>11952016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48-455B-95FF-094A47B814E8}"/>
            </c:ext>
          </c:extLst>
        </c:ser>
        <c:ser>
          <c:idx val="1"/>
          <c:order val="1"/>
          <c:tx>
            <c:strRef>
              <c:f>'Q3'!$C$3</c:f>
              <c:strCache>
                <c:ptCount val="1"/>
                <c:pt idx="0">
                  <c:v>Sum of Revenue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'Q3'!$A$4:$A$10</c:f>
              <c:strCache>
                <c:ptCount val="6"/>
                <c:pt idx="0">
                  <c:v>Brand Awareness</c:v>
                </c:pt>
                <c:pt idx="1">
                  <c:v>Customer Engagement</c:v>
                </c:pt>
                <c:pt idx="2">
                  <c:v>Lead Generation</c:v>
                </c:pt>
                <c:pt idx="3">
                  <c:v>Product Launch</c:v>
                </c:pt>
                <c:pt idx="4">
                  <c:v>Retargeting</c:v>
                </c:pt>
                <c:pt idx="5">
                  <c:v>Seasonal Promotion</c:v>
                </c:pt>
              </c:strCache>
            </c:strRef>
          </c:cat>
          <c:val>
            <c:numRef>
              <c:f>'Q3'!$C$4:$C$10</c:f>
              <c:numCache>
                <c:formatCode>General</c:formatCode>
                <c:ptCount val="6"/>
                <c:pt idx="0">
                  <c:v>352487160</c:v>
                </c:pt>
                <c:pt idx="1">
                  <c:v>338142432</c:v>
                </c:pt>
                <c:pt idx="2">
                  <c:v>362061608</c:v>
                </c:pt>
                <c:pt idx="3">
                  <c:v>384637435</c:v>
                </c:pt>
                <c:pt idx="4">
                  <c:v>374379242</c:v>
                </c:pt>
                <c:pt idx="5">
                  <c:v>360834069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48-455B-95FF-094A47B814E8}"/>
            </c:ext>
          </c:extLst>
        </c:ser>
        <c:ser>
          <c:idx val="2"/>
          <c:order val="2"/>
          <c:tx>
            <c:strRef>
              <c:f>'Q3'!$D$3</c:f>
              <c:strCache>
                <c:ptCount val="1"/>
                <c:pt idx="0">
                  <c:v>Sum of ROI (%)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'Q3'!$A$4:$A$10</c:f>
              <c:strCache>
                <c:ptCount val="6"/>
                <c:pt idx="0">
                  <c:v>Brand Awareness</c:v>
                </c:pt>
                <c:pt idx="1">
                  <c:v>Customer Engagement</c:v>
                </c:pt>
                <c:pt idx="2">
                  <c:v>Lead Generation</c:v>
                </c:pt>
                <c:pt idx="3">
                  <c:v>Product Launch</c:v>
                </c:pt>
                <c:pt idx="4">
                  <c:v>Retargeting</c:v>
                </c:pt>
                <c:pt idx="5">
                  <c:v>Seasonal Promotion</c:v>
                </c:pt>
              </c:strCache>
            </c:strRef>
          </c:cat>
          <c:val>
            <c:numRef>
              <c:f>'Q3'!$D$4:$D$10</c:f>
              <c:numCache>
                <c:formatCode>General</c:formatCode>
                <c:ptCount val="6"/>
                <c:pt idx="0">
                  <c:v>3194656.6000000024</c:v>
                </c:pt>
                <c:pt idx="1">
                  <c:v>2950469.0699999994</c:v>
                </c:pt>
                <c:pt idx="2">
                  <c:v>4143394.5599999982</c:v>
                </c:pt>
                <c:pt idx="3">
                  <c:v>3575994.3299999982</c:v>
                </c:pt>
                <c:pt idx="4">
                  <c:v>3912395.2500000009</c:v>
                </c:pt>
                <c:pt idx="5">
                  <c:v>3198550.5899999985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648-455B-95FF-094A47B814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333102864"/>
        <c:axId val="333117424"/>
      </c:barChart>
      <c:catAx>
        <c:axId val="3331028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3117424"/>
        <c:crosses val="autoZero"/>
        <c:auto val="1"/>
        <c:lblAlgn val="ctr"/>
        <c:lblOffset val="100"/>
        <c:noMultiLvlLbl val="0"/>
      </c:catAx>
      <c:valAx>
        <c:axId val="333117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3102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[Marketing_Campaign_Dataset.xlsx]Q4!Q4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LOCATION</a:t>
            </a:r>
            <a:r>
              <a:rPr lang="en-IN" baseline="0"/>
              <a:t> BASED PERFORMANCE  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'Q4'!$B$3</c:f>
              <c:strCache>
                <c:ptCount val="1"/>
                <c:pt idx="0">
                  <c:v>Sum of Conversions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'Q4'!$A$4:$A$14</c:f>
              <c:strCache>
                <c:ptCount val="10"/>
                <c:pt idx="0">
                  <c:v>Bengaluru</c:v>
                </c:pt>
                <c:pt idx="1">
                  <c:v>Chennai</c:v>
                </c:pt>
                <c:pt idx="2">
                  <c:v>Coimbatore</c:v>
                </c:pt>
                <c:pt idx="3">
                  <c:v>Delhi</c:v>
                </c:pt>
                <c:pt idx="4">
                  <c:v>Hyderabad</c:v>
                </c:pt>
                <c:pt idx="5">
                  <c:v>Kochi</c:v>
                </c:pt>
                <c:pt idx="6">
                  <c:v>Madurai</c:v>
                </c:pt>
                <c:pt idx="7">
                  <c:v>Mumbai</c:v>
                </c:pt>
                <c:pt idx="8">
                  <c:v>Pune</c:v>
                </c:pt>
                <c:pt idx="9">
                  <c:v>Salem</c:v>
                </c:pt>
              </c:strCache>
            </c:strRef>
          </c:cat>
          <c:val>
            <c:numRef>
              <c:f>'Q4'!$B$4:$B$14</c:f>
              <c:numCache>
                <c:formatCode>General</c:formatCode>
                <c:ptCount val="10"/>
                <c:pt idx="0">
                  <c:v>173370</c:v>
                </c:pt>
                <c:pt idx="1">
                  <c:v>167736</c:v>
                </c:pt>
                <c:pt idx="2">
                  <c:v>156262</c:v>
                </c:pt>
                <c:pt idx="3">
                  <c:v>181950</c:v>
                </c:pt>
                <c:pt idx="4">
                  <c:v>175615</c:v>
                </c:pt>
                <c:pt idx="5">
                  <c:v>149615</c:v>
                </c:pt>
                <c:pt idx="6">
                  <c:v>155246</c:v>
                </c:pt>
                <c:pt idx="7">
                  <c:v>151666</c:v>
                </c:pt>
                <c:pt idx="8">
                  <c:v>156021</c:v>
                </c:pt>
                <c:pt idx="9">
                  <c:v>165822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2F-4D5F-B07D-9E624A40572E}"/>
            </c:ext>
          </c:extLst>
        </c:ser>
        <c:ser>
          <c:idx val="1"/>
          <c:order val="1"/>
          <c:tx>
            <c:strRef>
              <c:f>'Q4'!$C$3</c:f>
              <c:strCache>
                <c:ptCount val="1"/>
                <c:pt idx="0">
                  <c:v>Sum of Revenue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'Q4'!$A$4:$A$14</c:f>
              <c:strCache>
                <c:ptCount val="10"/>
                <c:pt idx="0">
                  <c:v>Bengaluru</c:v>
                </c:pt>
                <c:pt idx="1">
                  <c:v>Chennai</c:v>
                </c:pt>
                <c:pt idx="2">
                  <c:v>Coimbatore</c:v>
                </c:pt>
                <c:pt idx="3">
                  <c:v>Delhi</c:v>
                </c:pt>
                <c:pt idx="4">
                  <c:v>Hyderabad</c:v>
                </c:pt>
                <c:pt idx="5">
                  <c:v>Kochi</c:v>
                </c:pt>
                <c:pt idx="6">
                  <c:v>Madurai</c:v>
                </c:pt>
                <c:pt idx="7">
                  <c:v>Mumbai</c:v>
                </c:pt>
                <c:pt idx="8">
                  <c:v>Pune</c:v>
                </c:pt>
                <c:pt idx="9">
                  <c:v>Salem</c:v>
                </c:pt>
              </c:strCache>
            </c:strRef>
          </c:cat>
          <c:val>
            <c:numRef>
              <c:f>'Q4'!$C$4:$C$14</c:f>
              <c:numCache>
                <c:formatCode>General</c:formatCode>
                <c:ptCount val="10"/>
                <c:pt idx="0">
                  <c:v>239934192</c:v>
                </c:pt>
                <c:pt idx="1">
                  <c:v>224822107</c:v>
                </c:pt>
                <c:pt idx="2">
                  <c:v>208579998</c:v>
                </c:pt>
                <c:pt idx="3">
                  <c:v>247083052</c:v>
                </c:pt>
                <c:pt idx="4">
                  <c:v>229986451</c:v>
                </c:pt>
                <c:pt idx="5">
                  <c:v>189383625</c:v>
                </c:pt>
                <c:pt idx="6">
                  <c:v>209453150</c:v>
                </c:pt>
                <c:pt idx="7">
                  <c:v>190948057</c:v>
                </c:pt>
                <c:pt idx="8">
                  <c:v>207001443</c:v>
                </c:pt>
                <c:pt idx="9">
                  <c:v>225349871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2F-4D5F-B07D-9E624A40572E}"/>
            </c:ext>
          </c:extLst>
        </c:ser>
        <c:ser>
          <c:idx val="2"/>
          <c:order val="2"/>
          <c:tx>
            <c:strRef>
              <c:f>'Q4'!$D$3</c:f>
              <c:strCache>
                <c:ptCount val="1"/>
                <c:pt idx="0">
                  <c:v>Sum of Campaign Spend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'Q4'!$A$4:$A$14</c:f>
              <c:strCache>
                <c:ptCount val="10"/>
                <c:pt idx="0">
                  <c:v>Bengaluru</c:v>
                </c:pt>
                <c:pt idx="1">
                  <c:v>Chennai</c:v>
                </c:pt>
                <c:pt idx="2">
                  <c:v>Coimbatore</c:v>
                </c:pt>
                <c:pt idx="3">
                  <c:v>Delhi</c:v>
                </c:pt>
                <c:pt idx="4">
                  <c:v>Hyderabad</c:v>
                </c:pt>
                <c:pt idx="5">
                  <c:v>Kochi</c:v>
                </c:pt>
                <c:pt idx="6">
                  <c:v>Madurai</c:v>
                </c:pt>
                <c:pt idx="7">
                  <c:v>Mumbai</c:v>
                </c:pt>
                <c:pt idx="8">
                  <c:v>Pune</c:v>
                </c:pt>
                <c:pt idx="9">
                  <c:v>Salem</c:v>
                </c:pt>
              </c:strCache>
            </c:strRef>
          </c:cat>
          <c:val>
            <c:numRef>
              <c:f>'Q4'!$D$4:$D$14</c:f>
              <c:numCache>
                <c:formatCode>General</c:formatCode>
                <c:ptCount val="10"/>
                <c:pt idx="0">
                  <c:v>7518366</c:v>
                </c:pt>
                <c:pt idx="1">
                  <c:v>7771857</c:v>
                </c:pt>
                <c:pt idx="2">
                  <c:v>7772112</c:v>
                </c:pt>
                <c:pt idx="3">
                  <c:v>8235716</c:v>
                </c:pt>
                <c:pt idx="4">
                  <c:v>7089894</c:v>
                </c:pt>
                <c:pt idx="5">
                  <c:v>7428744</c:v>
                </c:pt>
                <c:pt idx="6">
                  <c:v>7490611</c:v>
                </c:pt>
                <c:pt idx="7">
                  <c:v>7144921</c:v>
                </c:pt>
                <c:pt idx="8">
                  <c:v>8218113</c:v>
                </c:pt>
                <c:pt idx="9">
                  <c:v>6993409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82F-4D5F-B07D-9E624A40572E}"/>
            </c:ext>
          </c:extLst>
        </c:ser>
        <c:ser>
          <c:idx val="3"/>
          <c:order val="3"/>
          <c:tx>
            <c:strRef>
              <c:f>'Q4'!$E$3</c:f>
              <c:strCache>
                <c:ptCount val="1"/>
                <c:pt idx="0">
                  <c:v>Sum of ROI (%)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'Q4'!$A$4:$A$14</c:f>
              <c:strCache>
                <c:ptCount val="10"/>
                <c:pt idx="0">
                  <c:v>Bengaluru</c:v>
                </c:pt>
                <c:pt idx="1">
                  <c:v>Chennai</c:v>
                </c:pt>
                <c:pt idx="2">
                  <c:v>Coimbatore</c:v>
                </c:pt>
                <c:pt idx="3">
                  <c:v>Delhi</c:v>
                </c:pt>
                <c:pt idx="4">
                  <c:v>Hyderabad</c:v>
                </c:pt>
                <c:pt idx="5">
                  <c:v>Kochi</c:v>
                </c:pt>
                <c:pt idx="6">
                  <c:v>Madurai</c:v>
                </c:pt>
                <c:pt idx="7">
                  <c:v>Mumbai</c:v>
                </c:pt>
                <c:pt idx="8">
                  <c:v>Pune</c:v>
                </c:pt>
                <c:pt idx="9">
                  <c:v>Salem</c:v>
                </c:pt>
              </c:strCache>
            </c:strRef>
          </c:cat>
          <c:val>
            <c:numRef>
              <c:f>'Q4'!$E$4:$E$14</c:f>
              <c:numCache>
                <c:formatCode>General</c:formatCode>
                <c:ptCount val="10"/>
                <c:pt idx="0">
                  <c:v>2156128.83</c:v>
                </c:pt>
                <c:pt idx="1">
                  <c:v>1725563.18</c:v>
                </c:pt>
                <c:pt idx="2">
                  <c:v>2079533.2599999995</c:v>
                </c:pt>
                <c:pt idx="3">
                  <c:v>2351339.3200000017</c:v>
                </c:pt>
                <c:pt idx="4">
                  <c:v>2809538.8799999994</c:v>
                </c:pt>
                <c:pt idx="5">
                  <c:v>1792959.3299999994</c:v>
                </c:pt>
                <c:pt idx="6">
                  <c:v>1592243.2599999991</c:v>
                </c:pt>
                <c:pt idx="7">
                  <c:v>2128386.6</c:v>
                </c:pt>
                <c:pt idx="8">
                  <c:v>1539697.5000000016</c:v>
                </c:pt>
                <c:pt idx="9">
                  <c:v>2800070.2400000012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82F-4D5F-B07D-9E624A4057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654270704"/>
        <c:axId val="1654271536"/>
      </c:barChart>
      <c:catAx>
        <c:axId val="16542707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4271536"/>
        <c:crosses val="autoZero"/>
        <c:auto val="1"/>
        <c:lblAlgn val="ctr"/>
        <c:lblOffset val="100"/>
        <c:noMultiLvlLbl val="0"/>
      </c:catAx>
      <c:valAx>
        <c:axId val="1654271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4270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[Marketing_Campaign_Dataset.xlsx]Q5!Q5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DEVICE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'Q5'!$B$3</c:f>
              <c:strCache>
                <c:ptCount val="1"/>
                <c:pt idx="0">
                  <c:v>Sum of Impressions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'Q5'!$A$4:$A$7</c:f>
              <c:strCache>
                <c:ptCount val="3"/>
                <c:pt idx="0">
                  <c:v>Desktop</c:v>
                </c:pt>
                <c:pt idx="1">
                  <c:v>Mobile</c:v>
                </c:pt>
                <c:pt idx="2">
                  <c:v>Tablet</c:v>
                </c:pt>
              </c:strCache>
            </c:strRef>
          </c:cat>
          <c:val>
            <c:numRef>
              <c:f>'Q5'!$B$4:$B$7</c:f>
              <c:numCache>
                <c:formatCode>General</c:formatCode>
                <c:ptCount val="3"/>
                <c:pt idx="0">
                  <c:v>50863484</c:v>
                </c:pt>
                <c:pt idx="1">
                  <c:v>48726009</c:v>
                </c:pt>
                <c:pt idx="2">
                  <c:v>52010636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38-4A36-A0C3-557480DCD4FA}"/>
            </c:ext>
          </c:extLst>
        </c:ser>
        <c:ser>
          <c:idx val="1"/>
          <c:order val="1"/>
          <c:tx>
            <c:strRef>
              <c:f>'Q5'!$C$3</c:f>
              <c:strCache>
                <c:ptCount val="1"/>
                <c:pt idx="0">
                  <c:v>Sum of Clicks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'Q5'!$A$4:$A$7</c:f>
              <c:strCache>
                <c:ptCount val="3"/>
                <c:pt idx="0">
                  <c:v>Desktop</c:v>
                </c:pt>
                <c:pt idx="1">
                  <c:v>Mobile</c:v>
                </c:pt>
                <c:pt idx="2">
                  <c:v>Tablet</c:v>
                </c:pt>
              </c:strCache>
            </c:strRef>
          </c:cat>
          <c:val>
            <c:numRef>
              <c:f>'Q5'!$C$4:$C$7</c:f>
              <c:numCache>
                <c:formatCode>General</c:formatCode>
                <c:ptCount val="3"/>
                <c:pt idx="0">
                  <c:v>4133051</c:v>
                </c:pt>
                <c:pt idx="1">
                  <c:v>3882227</c:v>
                </c:pt>
                <c:pt idx="2">
                  <c:v>4200448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38-4A36-A0C3-557480DCD4FA}"/>
            </c:ext>
          </c:extLst>
        </c:ser>
        <c:ser>
          <c:idx val="2"/>
          <c:order val="2"/>
          <c:tx>
            <c:strRef>
              <c:f>'Q5'!$D$3</c:f>
              <c:strCache>
                <c:ptCount val="1"/>
                <c:pt idx="0">
                  <c:v>Sum of Conversions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'Q5'!$A$4:$A$7</c:f>
              <c:strCache>
                <c:ptCount val="3"/>
                <c:pt idx="0">
                  <c:v>Desktop</c:v>
                </c:pt>
                <c:pt idx="1">
                  <c:v>Mobile</c:v>
                </c:pt>
                <c:pt idx="2">
                  <c:v>Tablet</c:v>
                </c:pt>
              </c:strCache>
            </c:strRef>
          </c:cat>
          <c:val>
            <c:numRef>
              <c:f>'Q5'!$D$4:$D$7</c:f>
              <c:numCache>
                <c:formatCode>General</c:formatCode>
                <c:ptCount val="3"/>
                <c:pt idx="0">
                  <c:v>572077</c:v>
                </c:pt>
                <c:pt idx="1">
                  <c:v>507537</c:v>
                </c:pt>
                <c:pt idx="2">
                  <c:v>553689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738-4A36-A0C3-557480DCD4FA}"/>
            </c:ext>
          </c:extLst>
        </c:ser>
        <c:ser>
          <c:idx val="3"/>
          <c:order val="3"/>
          <c:tx>
            <c:strRef>
              <c:f>'Q5'!$E$3</c:f>
              <c:strCache>
                <c:ptCount val="1"/>
                <c:pt idx="0">
                  <c:v>Sum of CTR (%)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'Q5'!$A$4:$A$7</c:f>
              <c:strCache>
                <c:ptCount val="3"/>
                <c:pt idx="0">
                  <c:v>Desktop</c:v>
                </c:pt>
                <c:pt idx="1">
                  <c:v>Mobile</c:v>
                </c:pt>
                <c:pt idx="2">
                  <c:v>Tablet</c:v>
                </c:pt>
              </c:strCache>
            </c:strRef>
          </c:cat>
          <c:val>
            <c:numRef>
              <c:f>'Q5'!$E$4:$E$7</c:f>
              <c:numCache>
                <c:formatCode>General</c:formatCode>
                <c:ptCount val="3"/>
                <c:pt idx="0">
                  <c:v>8255.3999999999851</c:v>
                </c:pt>
                <c:pt idx="1">
                  <c:v>7578.1200000000081</c:v>
                </c:pt>
                <c:pt idx="2">
                  <c:v>8201.0000000000055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738-4A36-A0C3-557480DCD4FA}"/>
            </c:ext>
          </c:extLst>
        </c:ser>
        <c:ser>
          <c:idx val="4"/>
          <c:order val="4"/>
          <c:tx>
            <c:strRef>
              <c:f>'Q5'!$F$3</c:f>
              <c:strCache>
                <c:ptCount val="1"/>
                <c:pt idx="0">
                  <c:v>Sum of Conversion Rate (%)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'Q5'!$A$4:$A$7</c:f>
              <c:strCache>
                <c:ptCount val="3"/>
                <c:pt idx="0">
                  <c:v>Desktop</c:v>
                </c:pt>
                <c:pt idx="1">
                  <c:v>Mobile</c:v>
                </c:pt>
                <c:pt idx="2">
                  <c:v>Tablet</c:v>
                </c:pt>
              </c:strCache>
            </c:strRef>
          </c:cat>
          <c:val>
            <c:numRef>
              <c:f>'Q5'!$F$4:$F$7</c:f>
              <c:numCache>
                <c:formatCode>General</c:formatCode>
                <c:ptCount val="3"/>
                <c:pt idx="0">
                  <c:v>13964.749999999982</c:v>
                </c:pt>
                <c:pt idx="1">
                  <c:v>12929.11000000001</c:v>
                </c:pt>
                <c:pt idx="2">
                  <c:v>13698.129999999992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738-4A36-A0C3-557480DCD4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65313504"/>
        <c:axId val="365320160"/>
      </c:barChart>
      <c:catAx>
        <c:axId val="365313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5320160"/>
        <c:crosses val="autoZero"/>
        <c:auto val="1"/>
        <c:lblAlgn val="ctr"/>
        <c:lblOffset val="100"/>
        <c:noMultiLvlLbl val="0"/>
      </c:catAx>
      <c:valAx>
        <c:axId val="3653201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5313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[Marketing_Campaign_Dataset.xlsx]Q6!Q6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 MONTH</a:t>
            </a:r>
            <a:r>
              <a:rPr lang="en-IN" baseline="0"/>
              <a:t>-WISE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'Q6'!$B$3</c:f>
              <c:strCache>
                <c:ptCount val="1"/>
                <c:pt idx="0">
                  <c:v>Sum of Impressions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'Q6'!$A$4:$A$16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'Q6'!$B$4:$B$16</c:f>
              <c:numCache>
                <c:formatCode>General</c:formatCode>
                <c:ptCount val="12"/>
                <c:pt idx="0">
                  <c:v>11090538</c:v>
                </c:pt>
                <c:pt idx="1">
                  <c:v>12517253</c:v>
                </c:pt>
                <c:pt idx="2">
                  <c:v>14428276</c:v>
                </c:pt>
                <c:pt idx="3">
                  <c:v>11311593</c:v>
                </c:pt>
                <c:pt idx="4">
                  <c:v>13320068</c:v>
                </c:pt>
                <c:pt idx="5">
                  <c:v>12118258</c:v>
                </c:pt>
                <c:pt idx="6">
                  <c:v>13287383</c:v>
                </c:pt>
                <c:pt idx="7">
                  <c:v>13348595</c:v>
                </c:pt>
                <c:pt idx="8">
                  <c:v>11875480</c:v>
                </c:pt>
                <c:pt idx="9">
                  <c:v>13196122</c:v>
                </c:pt>
                <c:pt idx="10">
                  <c:v>13246782</c:v>
                </c:pt>
                <c:pt idx="11">
                  <c:v>11859781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AA-4CE1-BC27-C26C688B9AA5}"/>
            </c:ext>
          </c:extLst>
        </c:ser>
        <c:ser>
          <c:idx val="1"/>
          <c:order val="1"/>
          <c:tx>
            <c:strRef>
              <c:f>'Q6'!$C$3</c:f>
              <c:strCache>
                <c:ptCount val="1"/>
                <c:pt idx="0">
                  <c:v>Sum of Clicks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'Q6'!$A$4:$A$16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'Q6'!$C$4:$C$16</c:f>
              <c:numCache>
                <c:formatCode>General</c:formatCode>
                <c:ptCount val="12"/>
                <c:pt idx="0">
                  <c:v>926290</c:v>
                </c:pt>
                <c:pt idx="1">
                  <c:v>987005</c:v>
                </c:pt>
                <c:pt idx="2">
                  <c:v>1186748</c:v>
                </c:pt>
                <c:pt idx="3">
                  <c:v>937203</c:v>
                </c:pt>
                <c:pt idx="4">
                  <c:v>1154916</c:v>
                </c:pt>
                <c:pt idx="5">
                  <c:v>955597</c:v>
                </c:pt>
                <c:pt idx="6">
                  <c:v>1053145</c:v>
                </c:pt>
                <c:pt idx="7">
                  <c:v>1028189</c:v>
                </c:pt>
                <c:pt idx="8">
                  <c:v>941230</c:v>
                </c:pt>
                <c:pt idx="9">
                  <c:v>1063197</c:v>
                </c:pt>
                <c:pt idx="10">
                  <c:v>1026857</c:v>
                </c:pt>
                <c:pt idx="11">
                  <c:v>955349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9AA-4CE1-BC27-C26C688B9AA5}"/>
            </c:ext>
          </c:extLst>
        </c:ser>
        <c:ser>
          <c:idx val="2"/>
          <c:order val="2"/>
          <c:tx>
            <c:strRef>
              <c:f>'Q6'!$D$3</c:f>
              <c:strCache>
                <c:ptCount val="1"/>
                <c:pt idx="0">
                  <c:v>Sum of Conversions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'Q6'!$A$4:$A$16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'Q6'!$D$4:$D$16</c:f>
              <c:numCache>
                <c:formatCode>General</c:formatCode>
                <c:ptCount val="12"/>
                <c:pt idx="0">
                  <c:v>125074</c:v>
                </c:pt>
                <c:pt idx="1">
                  <c:v>130446</c:v>
                </c:pt>
                <c:pt idx="2">
                  <c:v>162783</c:v>
                </c:pt>
                <c:pt idx="3">
                  <c:v>124673</c:v>
                </c:pt>
                <c:pt idx="4">
                  <c:v>149040</c:v>
                </c:pt>
                <c:pt idx="5">
                  <c:v>133700</c:v>
                </c:pt>
                <c:pt idx="6">
                  <c:v>143850</c:v>
                </c:pt>
                <c:pt idx="7">
                  <c:v>131188</c:v>
                </c:pt>
                <c:pt idx="8">
                  <c:v>126449</c:v>
                </c:pt>
                <c:pt idx="9">
                  <c:v>143296</c:v>
                </c:pt>
                <c:pt idx="10">
                  <c:v>132111</c:v>
                </c:pt>
                <c:pt idx="11">
                  <c:v>130693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9AA-4CE1-BC27-C26C688B9AA5}"/>
            </c:ext>
          </c:extLst>
        </c:ser>
        <c:ser>
          <c:idx val="3"/>
          <c:order val="3"/>
          <c:tx>
            <c:strRef>
              <c:f>'Q6'!$E$3</c:f>
              <c:strCache>
                <c:ptCount val="1"/>
                <c:pt idx="0">
                  <c:v>Sum of Campaign Spend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'Q6'!$A$4:$A$16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'Q6'!$E$4:$E$16</c:f>
              <c:numCache>
                <c:formatCode>General</c:formatCode>
                <c:ptCount val="12"/>
                <c:pt idx="0">
                  <c:v>5934135</c:v>
                </c:pt>
                <c:pt idx="1">
                  <c:v>6503067</c:v>
                </c:pt>
                <c:pt idx="2">
                  <c:v>7282406</c:v>
                </c:pt>
                <c:pt idx="3">
                  <c:v>5320455</c:v>
                </c:pt>
                <c:pt idx="4">
                  <c:v>6623052</c:v>
                </c:pt>
                <c:pt idx="5">
                  <c:v>5818694</c:v>
                </c:pt>
                <c:pt idx="6">
                  <c:v>6226907</c:v>
                </c:pt>
                <c:pt idx="7">
                  <c:v>6895263</c:v>
                </c:pt>
                <c:pt idx="8">
                  <c:v>6249682</c:v>
                </c:pt>
                <c:pt idx="9">
                  <c:v>6676815</c:v>
                </c:pt>
                <c:pt idx="10">
                  <c:v>6092395</c:v>
                </c:pt>
                <c:pt idx="11">
                  <c:v>6040872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9AA-4CE1-BC27-C26C688B9AA5}"/>
            </c:ext>
          </c:extLst>
        </c:ser>
        <c:ser>
          <c:idx val="4"/>
          <c:order val="4"/>
          <c:tx>
            <c:strRef>
              <c:f>'Q6'!$F$3</c:f>
              <c:strCache>
                <c:ptCount val="1"/>
                <c:pt idx="0">
                  <c:v>Sum of Revenue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'Q6'!$A$4:$A$16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'Q6'!$F$4:$F$16</c:f>
              <c:numCache>
                <c:formatCode>General</c:formatCode>
                <c:ptCount val="12"/>
                <c:pt idx="0">
                  <c:v>163891015</c:v>
                </c:pt>
                <c:pt idx="1">
                  <c:v>166831180</c:v>
                </c:pt>
                <c:pt idx="2">
                  <c:v>221722415</c:v>
                </c:pt>
                <c:pt idx="3">
                  <c:v>158246349</c:v>
                </c:pt>
                <c:pt idx="4">
                  <c:v>201927383</c:v>
                </c:pt>
                <c:pt idx="5">
                  <c:v>180684236</c:v>
                </c:pt>
                <c:pt idx="6">
                  <c:v>188236922</c:v>
                </c:pt>
                <c:pt idx="7">
                  <c:v>170101946</c:v>
                </c:pt>
                <c:pt idx="8">
                  <c:v>172748662</c:v>
                </c:pt>
                <c:pt idx="9">
                  <c:v>187942624</c:v>
                </c:pt>
                <c:pt idx="10">
                  <c:v>189474024</c:v>
                </c:pt>
                <c:pt idx="11">
                  <c:v>170735190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9AA-4CE1-BC27-C26C688B9AA5}"/>
            </c:ext>
          </c:extLst>
        </c:ser>
        <c:ser>
          <c:idx val="5"/>
          <c:order val="5"/>
          <c:tx>
            <c:strRef>
              <c:f>'Q6'!$G$3</c:f>
              <c:strCache>
                <c:ptCount val="1"/>
                <c:pt idx="0">
                  <c:v>Sum of ROI (%)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'Q6'!$A$4:$A$16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'Q6'!$G$4:$G$16</c:f>
              <c:numCache>
                <c:formatCode>General</c:formatCode>
                <c:ptCount val="12"/>
                <c:pt idx="0">
                  <c:v>1240223.2899999996</c:v>
                </c:pt>
                <c:pt idx="1">
                  <c:v>1795145.0199999991</c:v>
                </c:pt>
                <c:pt idx="2">
                  <c:v>1638958.5799999982</c:v>
                </c:pt>
                <c:pt idx="3">
                  <c:v>2338813.169999999</c:v>
                </c:pt>
                <c:pt idx="4">
                  <c:v>2120579.91</c:v>
                </c:pt>
                <c:pt idx="5">
                  <c:v>1646430.3400000003</c:v>
                </c:pt>
                <c:pt idx="6">
                  <c:v>1580988.2500000002</c:v>
                </c:pt>
                <c:pt idx="7">
                  <c:v>1609587.0599999989</c:v>
                </c:pt>
                <c:pt idx="8">
                  <c:v>1783961.8700000013</c:v>
                </c:pt>
                <c:pt idx="9">
                  <c:v>1938747.5999999994</c:v>
                </c:pt>
                <c:pt idx="10">
                  <c:v>1467954.9800000014</c:v>
                </c:pt>
                <c:pt idx="11">
                  <c:v>1814070.3300000005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9AA-4CE1-BC27-C26C688B9A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65280224"/>
        <c:axId val="365289792"/>
      </c:barChart>
      <c:catAx>
        <c:axId val="365280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5289792"/>
        <c:crosses val="autoZero"/>
        <c:auto val="1"/>
        <c:lblAlgn val="ctr"/>
        <c:lblOffset val="100"/>
        <c:noMultiLvlLbl val="0"/>
      </c:catAx>
      <c:valAx>
        <c:axId val="3652897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52802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0CD507-38F3-4C81-A351-0233FD4DA4BD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74DDA6-960E-4F5B-A774-1348294AE0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002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4DDA6-960E-4F5B-A774-1348294AE03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659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2B48"/>
                </a:solidFill>
              </a:defRPr>
            </a:pPr>
            <a:r>
              <a:rPr dirty="0"/>
              <a:t>MARKETING CAMPAIGN</a:t>
            </a:r>
            <a:br>
              <a:rPr dirty="0"/>
            </a:br>
            <a:r>
              <a:rPr dirty="0"/>
              <a:t>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28590" y="3154680"/>
            <a:ext cx="65043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32830"/>
                </a:solidFill>
              </a:defRPr>
            </a:pPr>
            <a:r>
              <a:rPr lang="en-IN" sz="3200" dirty="0"/>
              <a:t>Excel  </a:t>
            </a:r>
            <a:r>
              <a:rPr sz="3200" dirty="0"/>
              <a:t>Dashboard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4196654"/>
            <a:ext cx="79247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rPr sz="2400" dirty="0"/>
              <a:t> Excel: Marketing Campaign Dataset • 3,000 records</a:t>
            </a:r>
            <a:endParaRPr lang="en-IN" sz="2400" dirty="0"/>
          </a:p>
          <a:p>
            <a:pPr algn="ctr">
              <a:defRPr sz="1400"/>
            </a:pPr>
            <a:endParaRPr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83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8160" y="657225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2B48"/>
                </a:solidFill>
              </a:defRPr>
            </a:pPr>
            <a:r>
              <a:rPr dirty="0"/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51617"/>
            <a:ext cx="1069848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</a:defRPr>
            </a:pPr>
            <a:r>
              <a:rPr sz="2400" dirty="0"/>
              <a:t>The dataset contains campaign-level information covering campaign type, marketing channel, location and device.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</a:defRPr>
            </a:pPr>
            <a:r>
              <a:rPr sz="2400" dirty="0"/>
              <a:t>The main challenge is to understand which campaigns and marketing segments generate strong customer engagement and financial returns.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</a:defRPr>
            </a:pPr>
            <a:r>
              <a:rPr sz="2400" dirty="0"/>
              <a:t>The analysis focuses on impressions, clicks, conversions, campaign spend, revenue, CTR, conversion rate and ROI.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</a:defRPr>
            </a:pPr>
            <a:r>
              <a:rPr sz="2400" dirty="0"/>
              <a:t>The final dashboard should make campaign performance easy to compare and support data-driven marketing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83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2B48"/>
                </a:solidFill>
              </a:defRPr>
            </a:pPr>
            <a:r>
              <a:t>2. Dataset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47472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A2B48"/>
                </a:solidFill>
              </a:defRPr>
            </a:pPr>
            <a:r>
              <a:rPr sz="1600" dirty="0"/>
              <a:t>Dataset Size</a:t>
            </a:r>
          </a:p>
          <a:p>
            <a:pPr algn="ctr">
              <a:defRPr sz="1200">
                <a:solidFill>
                  <a:srgbClr val="232830"/>
                </a:solidFill>
              </a:defRPr>
            </a:pPr>
            <a:r>
              <a:rPr sz="1600" dirty="0"/>
              <a:t>3,000 campaign records</a:t>
            </a:r>
            <a:br>
              <a:rPr sz="1600" dirty="0"/>
            </a:br>
            <a:r>
              <a:rPr sz="1600" dirty="0"/>
              <a:t>15 columns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234440"/>
            <a:ext cx="347472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A2B48"/>
                </a:solidFill>
              </a:defRPr>
            </a:pPr>
            <a:r>
              <a:rPr sz="1600" dirty="0"/>
              <a:t>Time Period</a:t>
            </a:r>
          </a:p>
          <a:p>
            <a:pPr algn="ctr">
              <a:defRPr sz="1200">
                <a:solidFill>
                  <a:srgbClr val="232830"/>
                </a:solidFill>
              </a:defRPr>
            </a:pPr>
            <a:r>
              <a:rPr sz="1600" dirty="0"/>
              <a:t>01 Jan 2025 to 31 Dec 2025</a:t>
            </a:r>
            <a:br>
              <a:rPr sz="1600" dirty="0"/>
            </a:br>
            <a:r>
              <a:rPr sz="1600" dirty="0"/>
              <a:t>Full year of campaign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234440"/>
            <a:ext cx="347472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A2B48"/>
                </a:solidFill>
              </a:defRPr>
            </a:pPr>
            <a:r>
              <a:rPr sz="1600" dirty="0"/>
              <a:t>Dimensions</a:t>
            </a:r>
          </a:p>
          <a:p>
            <a:pPr algn="ctr">
              <a:defRPr sz="1200">
                <a:solidFill>
                  <a:srgbClr val="232830"/>
                </a:solidFill>
              </a:defRPr>
            </a:pPr>
            <a:r>
              <a:rPr sz="1600" dirty="0"/>
              <a:t>6 campaign types • 8 channels</a:t>
            </a:r>
            <a:br>
              <a:rPr sz="1600" dirty="0"/>
            </a:br>
            <a:r>
              <a:rPr sz="1600" dirty="0"/>
              <a:t>10 locations • 3 devices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69848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sz="2000" dirty="0"/>
              <a:t>Campaign information: Campaign ID, Campaign Code, Campaign Date, Campaign Type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sz="2000" dirty="0"/>
              <a:t>Targeting dimensions: Marketing Channel, Location, Device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sz="2000" dirty="0"/>
              <a:t>Engagement metrics: Impressions, Clicks, CTR (%)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sz="2000" dirty="0"/>
              <a:t>Conversion metrics: Conversions, Conversion Rate (%)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sz="2000" dirty="0"/>
              <a:t>Financial metrics: Campaign Spend, Revenue, ROI (%)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83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2B48"/>
                </a:solidFill>
              </a:defRPr>
            </a:pPr>
            <a:r>
              <a:t>3. Data Preprocessing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356616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A2B48"/>
                </a:solidFill>
              </a:defRPr>
            </a:pPr>
            <a:r>
              <a:rPr sz="1600" dirty="0"/>
              <a:t>Data Quality</a:t>
            </a:r>
          </a:p>
          <a:p>
            <a:pPr algn="ctr">
              <a:defRPr sz="1200">
                <a:solidFill>
                  <a:srgbClr val="232830"/>
                </a:solidFill>
              </a:defRPr>
            </a:pPr>
            <a:r>
              <a:rPr sz="1600" dirty="0"/>
              <a:t>Checked missing values, duplicates and Campaign ID uniqueness.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143000"/>
            <a:ext cx="356616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A2B48"/>
                </a:solidFill>
              </a:defRPr>
            </a:pPr>
            <a:r>
              <a:rPr sz="1600" dirty="0"/>
              <a:t>Data Types</a:t>
            </a:r>
          </a:p>
          <a:p>
            <a:pPr algn="ctr">
              <a:defRPr sz="1200">
                <a:solidFill>
                  <a:srgbClr val="232830"/>
                </a:solidFill>
              </a:defRPr>
            </a:pPr>
            <a:r>
              <a:rPr sz="1600" dirty="0"/>
              <a:t>Converted Campaign Date to date format and verified numeric fields.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143000"/>
            <a:ext cx="356616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A2B48"/>
                </a:solidFill>
              </a:defRPr>
            </a:pPr>
            <a:r>
              <a:rPr sz="1600" dirty="0"/>
              <a:t>Validation</a:t>
            </a:r>
          </a:p>
          <a:p>
            <a:pPr algn="ctr">
              <a:defRPr sz="1200">
                <a:solidFill>
                  <a:srgbClr val="232830"/>
                </a:solidFill>
              </a:defRPr>
            </a:pPr>
            <a:r>
              <a:rPr sz="1600" dirty="0"/>
              <a:t>Checked Impressions ≥ Clicks ≥ Conversions and validated KPI formulas.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069848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830"/>
                </a:solidFill>
              </a:defRPr>
            </a:pPr>
            <a:r>
              <a:rPr sz="2000" dirty="0"/>
              <a:t>Standardized text categories for campaign type, channel, location and device.</a:t>
            </a:r>
          </a:p>
          <a:p>
            <a:pPr>
              <a:spcAft>
                <a:spcPts val="800"/>
              </a:spcAft>
              <a:defRPr sz="1400">
                <a:solidFill>
                  <a:srgbClr val="232830"/>
                </a:solidFill>
              </a:defRPr>
            </a:pPr>
            <a:r>
              <a:rPr sz="2000" dirty="0"/>
              <a:t>Checked for invalid or negative values in engagement and financial fields.</a:t>
            </a:r>
          </a:p>
          <a:p>
            <a:pPr>
              <a:spcAft>
                <a:spcPts val="800"/>
              </a:spcAft>
              <a:defRPr sz="1400">
                <a:solidFill>
                  <a:srgbClr val="232830"/>
                </a:solidFill>
              </a:defRPr>
            </a:pPr>
            <a:r>
              <a:rPr sz="2000" dirty="0"/>
              <a:t>Validated CTR = Clicks ÷ Impressions × 100.</a:t>
            </a:r>
          </a:p>
          <a:p>
            <a:pPr>
              <a:spcAft>
                <a:spcPts val="800"/>
              </a:spcAft>
              <a:defRPr sz="1400">
                <a:solidFill>
                  <a:srgbClr val="232830"/>
                </a:solidFill>
              </a:defRPr>
            </a:pPr>
            <a:r>
              <a:rPr sz="2000" dirty="0"/>
              <a:t>Validated Conversion Rate = Conversions ÷ Clicks × 100.</a:t>
            </a:r>
          </a:p>
          <a:p>
            <a:pPr>
              <a:spcAft>
                <a:spcPts val="800"/>
              </a:spcAft>
              <a:defRPr sz="1400">
                <a:solidFill>
                  <a:srgbClr val="232830"/>
                </a:solidFill>
              </a:defRPr>
            </a:pPr>
            <a:r>
              <a:rPr sz="2000" dirty="0"/>
              <a:t>Validated ROI = (Revenue − Campaign Spend) ÷ Campaign Spend × 100.</a:t>
            </a:r>
          </a:p>
          <a:p>
            <a:pPr>
              <a:spcAft>
                <a:spcPts val="800"/>
              </a:spcAft>
              <a:defRPr sz="1400">
                <a:solidFill>
                  <a:srgbClr val="232830"/>
                </a:solidFill>
              </a:defRPr>
            </a:pPr>
            <a:r>
              <a:rPr sz="2000" dirty="0"/>
              <a:t>The </a:t>
            </a:r>
            <a:r>
              <a:rPr sz="2000" dirty="0" err="1"/>
              <a:t>cleaned_data</a:t>
            </a:r>
            <a:r>
              <a:rPr sz="2000" dirty="0"/>
              <a:t> sheet in the workbook was used for the final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83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2B48"/>
                </a:solidFill>
              </a:defRPr>
            </a:pPr>
            <a:r>
              <a:t>4. Five Important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830"/>
                </a:solidFill>
              </a:defRPr>
            </a:pPr>
            <a:r>
              <a:t>Overall values calculated directly from the Excel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214884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2B48"/>
                </a:solidFill>
              </a:defRPr>
            </a:pPr>
            <a:r>
              <a:rPr sz="1600" dirty="0"/>
              <a:t>75.66M</a:t>
            </a:r>
          </a:p>
          <a:p>
            <a:pPr algn="ctr">
              <a:defRPr sz="1000">
                <a:solidFill>
                  <a:srgbClr val="232830"/>
                </a:solidFill>
              </a:defRPr>
            </a:pPr>
            <a:r>
              <a:rPr sz="1600" dirty="0"/>
              <a:t>Total Campaign Spend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1234440"/>
            <a:ext cx="214884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2B48"/>
                </a:solidFill>
              </a:defRPr>
            </a:pPr>
            <a:r>
              <a:rPr sz="1600" dirty="0"/>
              <a:t>2.17B</a:t>
            </a:r>
          </a:p>
          <a:p>
            <a:pPr algn="ctr">
              <a:defRPr sz="1000">
                <a:solidFill>
                  <a:srgbClr val="232830"/>
                </a:solidFill>
              </a:defRPr>
            </a:pPr>
            <a:r>
              <a:rPr sz="1600" dirty="0"/>
              <a:t>Total Revenue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234440"/>
            <a:ext cx="214884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2B48"/>
                </a:solidFill>
              </a:defRPr>
            </a:pPr>
            <a:r>
              <a:rPr sz="1600" dirty="0"/>
              <a:t>1.63M</a:t>
            </a:r>
          </a:p>
          <a:p>
            <a:pPr algn="ctr">
              <a:defRPr sz="1000">
                <a:solidFill>
                  <a:srgbClr val="232830"/>
                </a:solidFill>
              </a:defRPr>
            </a:pPr>
            <a:r>
              <a:rPr sz="1600" dirty="0"/>
              <a:t>Total Conversions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234440"/>
            <a:ext cx="214884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2B48"/>
                </a:solidFill>
              </a:defRPr>
            </a:pPr>
            <a:r>
              <a:rPr sz="1600" dirty="0"/>
              <a:t>8.06%</a:t>
            </a:r>
          </a:p>
          <a:p>
            <a:pPr algn="ctr">
              <a:defRPr sz="1000">
                <a:solidFill>
                  <a:srgbClr val="232830"/>
                </a:solidFill>
              </a:defRPr>
            </a:pPr>
            <a:r>
              <a:rPr sz="1600" dirty="0"/>
              <a:t>Overall CTR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1234440"/>
            <a:ext cx="20116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2B48"/>
                </a:solidFill>
              </a:defRPr>
            </a:pPr>
            <a:r>
              <a:rPr sz="1600" dirty="0"/>
              <a:t>2771.31%</a:t>
            </a:r>
          </a:p>
          <a:p>
            <a:pPr algn="ctr">
              <a:defRPr sz="1000">
                <a:solidFill>
                  <a:srgbClr val="232830"/>
                </a:solidFill>
              </a:defRPr>
            </a:pPr>
            <a:r>
              <a:rPr sz="1600" dirty="0"/>
              <a:t>Overall ROI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106984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</a:defRPr>
            </a:pPr>
            <a:r>
              <a:rPr sz="2000" dirty="0"/>
              <a:t>Total impressions: 151.60M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</a:defRPr>
            </a:pPr>
            <a:r>
              <a:rPr sz="2000" dirty="0"/>
              <a:t>Total clicks: 12.22M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</a:defRPr>
            </a:pPr>
            <a:r>
              <a:rPr sz="2000" dirty="0"/>
              <a:t>Overall conversion rate: 13.37%</a:t>
            </a:r>
          </a:p>
          <a:p>
            <a:pPr>
              <a:spcAft>
                <a:spcPts val="800"/>
              </a:spcAft>
              <a:defRPr sz="1600">
                <a:solidFill>
                  <a:srgbClr val="232830"/>
                </a:solidFill>
              </a:defRPr>
            </a:pPr>
            <a:r>
              <a:rPr sz="2000" dirty="0"/>
              <a:t>These five KPIs summarize investment, revenue, customer action, engagement and return.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83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2B48"/>
                </a:solidFill>
              </a:defRPr>
            </a:pPr>
            <a:r>
              <a:rPr dirty="0"/>
              <a:t>5. Dashboard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35230"/>
            <a:ext cx="1069848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sz="2000" dirty="0"/>
              <a:t>Q1. How is the overall marketing campaign performing?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sz="2000" dirty="0"/>
              <a:t>Q2. Which marketing channels generate the highest engagement and conversions?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sz="2000" dirty="0"/>
              <a:t>Q3. Which campaign types generate the highest revenue and ROI?</a:t>
            </a:r>
            <a:endParaRPr lang="en-IN" sz="2000" dirty="0"/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lang="en-GB" sz="2000" dirty="0"/>
              <a:t>Q4. How does campaign performance vary across different locations?</a:t>
            </a:r>
            <a:endParaRPr sz="2000" dirty="0"/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sz="2000" dirty="0"/>
              <a:t>Q5. Which devices generate the highest customer engagement and conversions?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sz="2000" dirty="0"/>
              <a:t>Q6. How does campaign performance change month by month?</a:t>
            </a:r>
            <a:endParaRPr lang="en-IN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83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2B48"/>
                </a:solidFill>
              </a:defRPr>
            </a:pPr>
            <a:r>
              <a:t>Q1. How Is the Overall Campaign Performing?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97280"/>
            <a:ext cx="214884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2B48"/>
                </a:solidFill>
              </a:defRPr>
            </a:pPr>
            <a:r>
              <a:rPr sz="1600" dirty="0"/>
              <a:t>151.60M</a:t>
            </a:r>
          </a:p>
          <a:p>
            <a:pPr algn="ctr">
              <a:defRPr sz="1000">
                <a:solidFill>
                  <a:srgbClr val="232830"/>
                </a:solidFill>
              </a:defRPr>
            </a:pPr>
            <a:r>
              <a:rPr sz="1600" dirty="0"/>
              <a:t>Impressions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88920" y="1097280"/>
            <a:ext cx="214884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2B48"/>
                </a:solidFill>
              </a:defRPr>
            </a:pPr>
            <a:r>
              <a:rPr sz="1600" dirty="0"/>
              <a:t>12.22M</a:t>
            </a:r>
          </a:p>
          <a:p>
            <a:pPr algn="ctr">
              <a:defRPr sz="1000">
                <a:solidFill>
                  <a:srgbClr val="232830"/>
                </a:solidFill>
              </a:defRPr>
            </a:pPr>
            <a:r>
              <a:rPr sz="1600" dirty="0"/>
              <a:t>Clicks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4920" y="1097280"/>
            <a:ext cx="214884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2B48"/>
                </a:solidFill>
              </a:defRPr>
            </a:pPr>
            <a:r>
              <a:rPr sz="1600" dirty="0"/>
              <a:t>1.63M</a:t>
            </a:r>
          </a:p>
          <a:p>
            <a:pPr algn="ctr">
              <a:defRPr sz="1000">
                <a:solidFill>
                  <a:srgbClr val="232830"/>
                </a:solidFill>
              </a:defRPr>
            </a:pPr>
            <a:r>
              <a:rPr sz="1600" dirty="0"/>
              <a:t>Conversions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097280"/>
            <a:ext cx="214884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2B48"/>
                </a:solidFill>
              </a:defRPr>
            </a:pPr>
            <a:r>
              <a:rPr sz="1600" dirty="0"/>
              <a:t>13.37%</a:t>
            </a:r>
          </a:p>
          <a:p>
            <a:pPr algn="ctr">
              <a:defRPr sz="1000">
                <a:solidFill>
                  <a:srgbClr val="232830"/>
                </a:solidFill>
              </a:defRPr>
            </a:pPr>
            <a:r>
              <a:rPr sz="1600" dirty="0"/>
              <a:t>Conversion 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46920" y="1097280"/>
            <a:ext cx="201168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2B48"/>
                </a:solidFill>
              </a:defRPr>
            </a:pPr>
            <a:r>
              <a:rPr sz="1600" dirty="0"/>
              <a:t>2771%</a:t>
            </a:r>
          </a:p>
          <a:p>
            <a:pPr algn="ctr">
              <a:defRPr sz="1000">
                <a:solidFill>
                  <a:srgbClr val="232830"/>
                </a:solidFill>
              </a:defRPr>
            </a:pPr>
            <a:r>
              <a:rPr sz="1600" dirty="0"/>
              <a:t>ROI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50292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830"/>
                </a:solidFill>
              </a:defRPr>
            </a:pPr>
            <a:r>
              <a:rPr sz="2000" dirty="0"/>
              <a:t>The campaign portfolio generated strong activity across the complete funnel.</a:t>
            </a:r>
          </a:p>
          <a:p>
            <a:pPr>
              <a:spcAft>
                <a:spcPts val="800"/>
              </a:spcAft>
              <a:defRPr sz="1400">
                <a:solidFill>
                  <a:srgbClr val="232830"/>
                </a:solidFill>
              </a:defRPr>
            </a:pPr>
            <a:r>
              <a:rPr sz="2000" dirty="0"/>
              <a:t>Clicks represent an overall CTR of 8.06% from 151.60M impressions.</a:t>
            </a:r>
          </a:p>
          <a:p>
            <a:pPr>
              <a:spcAft>
                <a:spcPts val="800"/>
              </a:spcAft>
              <a:defRPr sz="1400">
                <a:solidFill>
                  <a:srgbClr val="232830"/>
                </a:solidFill>
              </a:defRPr>
            </a:pPr>
            <a:r>
              <a:rPr sz="2000" dirty="0"/>
              <a:t>1.63M conversions were generated from 12.22M clicks.</a:t>
            </a:r>
          </a:p>
          <a:p>
            <a:pPr>
              <a:spcAft>
                <a:spcPts val="800"/>
              </a:spcAft>
              <a:defRPr sz="1400">
                <a:solidFill>
                  <a:srgbClr val="232830"/>
                </a:solidFill>
              </a:defRPr>
            </a:pPr>
            <a:r>
              <a:rPr sz="2000" dirty="0"/>
              <a:t>The overall KPIs provide the baseline against which channels, campaign types, locations and devices can be compared.</a:t>
            </a:r>
          </a:p>
        </p:txBody>
      </p:sp>
      <p:sp>
        <p:nvSpPr>
          <p:cNvPr id="9" name="Trapezoid 8"/>
          <p:cNvSpPr/>
          <p:nvPr/>
        </p:nvSpPr>
        <p:spPr>
          <a:xfrm>
            <a:off x="6400800" y="2743200"/>
            <a:ext cx="4297680" cy="566928"/>
          </a:xfrm>
          <a:prstGeom prst="trapezoid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A2B48"/>
                </a:solidFill>
              </a:defRPr>
            </a:pPr>
            <a:r>
              <a:rPr sz="1600" dirty="0"/>
              <a:t>Impressions: 151.60M</a:t>
            </a:r>
          </a:p>
        </p:txBody>
      </p:sp>
      <p:sp>
        <p:nvSpPr>
          <p:cNvPr id="10" name="Trapezoid 9"/>
          <p:cNvSpPr/>
          <p:nvPr/>
        </p:nvSpPr>
        <p:spPr>
          <a:xfrm>
            <a:off x="6400800" y="3520440"/>
            <a:ext cx="4297680" cy="566928"/>
          </a:xfrm>
          <a:prstGeom prst="trapezoid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A2B48"/>
                </a:solidFill>
              </a:defRPr>
            </a:pPr>
            <a:r>
              <a:rPr sz="1600" dirty="0"/>
              <a:t>Clicks: 12.22M</a:t>
            </a:r>
          </a:p>
        </p:txBody>
      </p:sp>
      <p:sp>
        <p:nvSpPr>
          <p:cNvPr id="11" name="Trapezoid 10"/>
          <p:cNvSpPr/>
          <p:nvPr/>
        </p:nvSpPr>
        <p:spPr>
          <a:xfrm>
            <a:off x="6431282" y="4297680"/>
            <a:ext cx="4297680" cy="566928"/>
          </a:xfrm>
          <a:prstGeom prst="trapezoid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A2B48"/>
                </a:solidFill>
              </a:defRPr>
            </a:pPr>
            <a:r>
              <a:rPr sz="1600" dirty="0"/>
              <a:t>Conversions: 1.63M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83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80D86D7-DD65-430F-8974-9F40D515D1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2731813"/>
              </p:ext>
            </p:extLst>
          </p:nvPr>
        </p:nvGraphicFramePr>
        <p:xfrm>
          <a:off x="2598821" y="1058779"/>
          <a:ext cx="7267074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46944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2B48"/>
                </a:solidFill>
              </a:defRPr>
            </a:pPr>
            <a:r>
              <a:t>Q2. Which Marketing Channels Perform Best?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1417320"/>
            <a:ext cx="42062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830"/>
                </a:solidFill>
              </a:defRPr>
            </a:pPr>
            <a:r>
              <a:rPr sz="2000" dirty="0"/>
              <a:t>Email leads conversions with 240,213.</a:t>
            </a:r>
          </a:p>
          <a:p>
            <a:pPr>
              <a:spcAft>
                <a:spcPts val="800"/>
              </a:spcAft>
              <a:defRPr sz="1400">
                <a:solidFill>
                  <a:srgbClr val="232830"/>
                </a:solidFill>
              </a:defRPr>
            </a:pPr>
            <a:r>
              <a:rPr sz="2000" dirty="0"/>
              <a:t>Email has the highest calculated CTR at 8.32%.</a:t>
            </a:r>
          </a:p>
          <a:p>
            <a:pPr>
              <a:spcAft>
                <a:spcPts val="800"/>
              </a:spcAft>
              <a:defRPr sz="1400">
                <a:solidFill>
                  <a:srgbClr val="232830"/>
                </a:solidFill>
              </a:defRPr>
            </a:pPr>
            <a:r>
              <a:rPr sz="2000" dirty="0"/>
              <a:t>Email has the highest conversion volume in the workbook's Q2 table.</a:t>
            </a:r>
          </a:p>
          <a:p>
            <a:pPr>
              <a:spcAft>
                <a:spcPts val="800"/>
              </a:spcAft>
              <a:defRPr sz="1400">
                <a:solidFill>
                  <a:srgbClr val="232830"/>
                </a:solidFill>
              </a:defRPr>
            </a:pPr>
            <a:r>
              <a:rPr sz="2000" dirty="0"/>
              <a:t>Channel comparison helps decide where to focus future marketing activity.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830"/>
                </a:solidFill>
              </a:defRPr>
            </a:pPr>
            <a:r>
              <a:t>8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F465011-F80C-4DE2-A68C-F435D15FE5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6123786"/>
              </p:ext>
            </p:extLst>
          </p:nvPr>
        </p:nvGraphicFramePr>
        <p:xfrm>
          <a:off x="853439" y="1453654"/>
          <a:ext cx="5571423" cy="3987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2B48"/>
                </a:solidFill>
              </a:defRPr>
            </a:pPr>
            <a:r>
              <a:t>Q3. Which Campaign Types Generate the Highest Revenue &amp; ROI?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1417320"/>
            <a:ext cx="420624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830"/>
                </a:solidFill>
              </a:defRPr>
            </a:pPr>
            <a:r>
              <a:rPr sz="2000" dirty="0"/>
              <a:t>Product Launch has the highest revenue: $384.6M.</a:t>
            </a:r>
          </a:p>
          <a:p>
            <a:pPr>
              <a:spcAft>
                <a:spcPts val="800"/>
              </a:spcAft>
              <a:defRPr sz="1400">
                <a:solidFill>
                  <a:srgbClr val="232830"/>
                </a:solidFill>
              </a:defRPr>
            </a:pPr>
            <a:r>
              <a:rPr sz="2000" dirty="0"/>
              <a:t>Product Launch has the highest ROI: 2965.34%.</a:t>
            </a:r>
          </a:p>
          <a:p>
            <a:pPr>
              <a:spcAft>
                <a:spcPts val="800"/>
              </a:spcAft>
              <a:defRPr sz="1400">
                <a:solidFill>
                  <a:srgbClr val="232830"/>
                </a:solidFill>
              </a:defRPr>
            </a:pPr>
            <a:r>
              <a:rPr sz="2000" dirty="0"/>
              <a:t>Lead Generation produces strong financial performance and should be monitored closely.</a:t>
            </a:r>
          </a:p>
          <a:p>
            <a:pPr>
              <a:spcAft>
                <a:spcPts val="800"/>
              </a:spcAft>
              <a:defRPr sz="1400">
                <a:solidFill>
                  <a:srgbClr val="232830"/>
                </a:solidFill>
              </a:defRPr>
            </a:pPr>
            <a:r>
              <a:rPr sz="2000" dirty="0"/>
              <a:t>Campaign-type comparisons help with budget allocation and campaign planning.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830"/>
                </a:solidFill>
              </a:defRPr>
            </a:pPr>
            <a:r>
              <a:t>9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C5D4453-4BDE-4508-996B-2B6641903B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6594312"/>
              </p:ext>
            </p:extLst>
          </p:nvPr>
        </p:nvGraphicFramePr>
        <p:xfrm>
          <a:off x="853440" y="1299411"/>
          <a:ext cx="5242560" cy="3765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86014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2B48"/>
                </a:solidFill>
              </a:defRPr>
            </a:pPr>
            <a:r>
              <a:rPr dirty="0"/>
              <a:t>Q</a:t>
            </a:r>
            <a:r>
              <a:rPr lang="en-IN" dirty="0"/>
              <a:t>4</a:t>
            </a:r>
            <a:r>
              <a:rPr dirty="0"/>
              <a:t>. How Does Campaign </a:t>
            </a:r>
            <a:r>
              <a:rPr lang="en-GB" sz="2800" dirty="0"/>
              <a:t>vary across different locations</a:t>
            </a:r>
            <a:r>
              <a:rPr dirty="0"/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0" y="1417320"/>
            <a:ext cx="4206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830"/>
                </a:solidFill>
              </a:defRPr>
            </a:pPr>
            <a:endParaRPr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830"/>
                </a:solidFill>
              </a:defRPr>
            </a:pPr>
            <a:r>
              <a:t>13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F7E0835-3B06-496E-88A2-30C56B6154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729"/>
              </p:ext>
            </p:extLst>
          </p:nvPr>
        </p:nvGraphicFramePr>
        <p:xfrm>
          <a:off x="853439" y="1417319"/>
          <a:ext cx="6028623" cy="37856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2965C02E-7F02-4CE5-95AF-D9B6AF40C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7863" y="1246931"/>
            <a:ext cx="3953577" cy="338554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 Salem has the highest revenue, followed closely by Delhi and Bengaluru.</a:t>
            </a:r>
          </a:p>
          <a:p>
            <a:pPr defTabSz="914400"/>
            <a:r>
              <a:rPr lang="en-GB" sz="2000" i="0" dirty="0">
                <a:solidFill>
                  <a:srgbClr val="0D0D0D"/>
                </a:solidFill>
                <a:effectLst/>
                <a:latin typeface="-apple-system-body"/>
              </a:rPr>
              <a:t>Coimbatore, Madurai, Mumbai, and Kochi show comparatively lower revenue performance.</a:t>
            </a:r>
          </a:p>
          <a:p>
            <a:pPr defTabSz="914400"/>
            <a:r>
              <a:rPr lang="en-GB" sz="2000" i="0" dirty="0">
                <a:solidFill>
                  <a:srgbClr val="0D0D0D"/>
                </a:solidFill>
                <a:effectLst/>
                <a:latin typeface="-apple-system-body"/>
              </a:rPr>
              <a:t>Campaign spend and conversions are much smaller than revenue across all locations, suggesting revenue is the dominant performance metric in the chart.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-apple-system-bod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68978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2B48"/>
                </a:solidFill>
              </a:defRPr>
            </a:pPr>
            <a:r>
              <a:rPr dirty="0"/>
              <a:t>Q5. Which Devices Generate the Highest Engagement</a:t>
            </a:r>
            <a:r>
              <a:rPr lang="en-IN" dirty="0"/>
              <a:t> and conversations</a:t>
            </a:r>
            <a:r>
              <a:rPr dirty="0"/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1417320"/>
            <a:ext cx="420624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830"/>
                </a:solidFill>
              </a:defRPr>
            </a:pPr>
            <a:r>
              <a:rPr sz="2000" dirty="0"/>
              <a:t>Desktop has the highest conversions: 572,077.</a:t>
            </a:r>
          </a:p>
          <a:p>
            <a:pPr>
              <a:spcAft>
                <a:spcPts val="800"/>
              </a:spcAft>
              <a:defRPr sz="1400">
                <a:solidFill>
                  <a:srgbClr val="232830"/>
                </a:solidFill>
              </a:defRPr>
            </a:pPr>
            <a:r>
              <a:rPr sz="2000" dirty="0"/>
              <a:t>Desktop has the highest calculated CTR: 8.13%.</a:t>
            </a:r>
          </a:p>
          <a:p>
            <a:pPr>
              <a:spcAft>
                <a:spcPts val="800"/>
              </a:spcAft>
              <a:defRPr sz="1400">
                <a:solidFill>
                  <a:srgbClr val="232830"/>
                </a:solidFill>
              </a:defRPr>
            </a:pPr>
            <a:r>
              <a:rPr sz="2000" dirty="0"/>
              <a:t>Desktop records the highest conversion rate among the three devices.</a:t>
            </a:r>
          </a:p>
          <a:p>
            <a:pPr>
              <a:spcAft>
                <a:spcPts val="800"/>
              </a:spcAft>
              <a:defRPr sz="1400">
                <a:solidFill>
                  <a:srgbClr val="232830"/>
                </a:solidFill>
              </a:defRPr>
            </a:pPr>
            <a:r>
              <a:rPr sz="2000" dirty="0"/>
              <a:t>Device insights can guide responsive design, ad creative and landing-page optimization.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830"/>
                </a:solidFill>
              </a:defRPr>
            </a:pPr>
            <a:r>
              <a:t>11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E06EB43-5F16-4DD3-B95A-2890834F38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6557110"/>
              </p:ext>
            </p:extLst>
          </p:nvPr>
        </p:nvGraphicFramePr>
        <p:xfrm>
          <a:off x="852637" y="1299411"/>
          <a:ext cx="5632383" cy="38260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2B48"/>
                </a:solidFill>
              </a:defRPr>
            </a:pPr>
            <a:r>
              <a:t>Q6. How Does Campaign Performance Change Month by Month?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830"/>
                </a:solidFill>
              </a:defRPr>
            </a:pPr>
            <a:r>
              <a:t>Monthly analysis calculated from the Excel campaign 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1417320"/>
            <a:ext cx="420624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830"/>
                </a:solidFill>
              </a:defRPr>
            </a:pPr>
            <a:r>
              <a:rPr sz="2000" dirty="0"/>
              <a:t>Mar</a:t>
            </a:r>
            <a:r>
              <a:rPr lang="en-IN" sz="2000" dirty="0" err="1"/>
              <a:t>ch</a:t>
            </a:r>
            <a:r>
              <a:rPr sz="2000" dirty="0"/>
              <a:t> records the highest monthly revenue: $221.7M.</a:t>
            </a:r>
          </a:p>
          <a:p>
            <a:pPr>
              <a:spcAft>
                <a:spcPts val="800"/>
              </a:spcAft>
              <a:defRPr sz="1400">
                <a:solidFill>
                  <a:srgbClr val="232830"/>
                </a:solidFill>
              </a:defRPr>
            </a:pPr>
            <a:r>
              <a:rPr sz="2000" dirty="0"/>
              <a:t>Mar</a:t>
            </a:r>
            <a:r>
              <a:rPr lang="en-IN" sz="2000" dirty="0" err="1"/>
              <a:t>ch</a:t>
            </a:r>
            <a:r>
              <a:rPr sz="2000" dirty="0"/>
              <a:t> records the highest monthly conversions: 162,783.</a:t>
            </a:r>
          </a:p>
          <a:p>
            <a:pPr>
              <a:spcAft>
                <a:spcPts val="800"/>
              </a:spcAft>
              <a:defRPr sz="1400">
                <a:solidFill>
                  <a:srgbClr val="232830"/>
                </a:solidFill>
              </a:defRPr>
            </a:pPr>
            <a:r>
              <a:rPr sz="2000" dirty="0"/>
              <a:t>Monthly trends can reveal seasonal patterns and periods requiring stronger campaign activity.</a:t>
            </a:r>
          </a:p>
          <a:p>
            <a:pPr>
              <a:spcAft>
                <a:spcPts val="800"/>
              </a:spcAft>
              <a:defRPr sz="1400">
                <a:solidFill>
                  <a:srgbClr val="232830"/>
                </a:solidFill>
              </a:defRPr>
            </a:pPr>
            <a:r>
              <a:rPr sz="2000" dirty="0"/>
              <a:t>Use a date slicer in the final dashboard for month-level drill-down.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830"/>
                </a:solidFill>
              </a:defRPr>
            </a:pPr>
            <a:r>
              <a:t>12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8560E59-FE42-4728-AABB-F030BC32A7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7417889"/>
              </p:ext>
            </p:extLst>
          </p:nvPr>
        </p:nvGraphicFramePr>
        <p:xfrm>
          <a:off x="970547" y="1115568"/>
          <a:ext cx="5333999" cy="36852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AA1477-DF58-4471-A05A-18CCA15525B2}"/>
              </a:ext>
            </a:extLst>
          </p:cNvPr>
          <p:cNvSpPr txBox="1"/>
          <p:nvPr/>
        </p:nvSpPr>
        <p:spPr>
          <a:xfrm>
            <a:off x="745958" y="385010"/>
            <a:ext cx="409073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700" b="1" dirty="0"/>
              <a:t>6. Slicers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D021B1-FFCF-486C-81C6-299EA0E8086B}"/>
              </a:ext>
            </a:extLst>
          </p:cNvPr>
          <p:cNvSpPr txBox="1"/>
          <p:nvPr/>
        </p:nvSpPr>
        <p:spPr>
          <a:xfrm>
            <a:off x="914400" y="1612231"/>
            <a:ext cx="997417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For your Marketing Campaign Dashboard, I recommend these 6 slicers:</a:t>
            </a:r>
          </a:p>
          <a:p>
            <a:pPr>
              <a:buFont typeface="+mj-lt"/>
              <a:buAutoNum type="arabicPeriod"/>
            </a:pPr>
            <a:r>
              <a:rPr lang="en-GB" sz="2000" dirty="0"/>
              <a:t>Campaign Date – filter campaigns by date/month. </a:t>
            </a:r>
          </a:p>
          <a:p>
            <a:pPr>
              <a:buFont typeface="+mj-lt"/>
              <a:buAutoNum type="arabicPeriod"/>
            </a:pPr>
            <a:r>
              <a:rPr lang="en-GB" sz="2000" dirty="0"/>
              <a:t>Campaign Type – filter by campaign type. </a:t>
            </a:r>
          </a:p>
          <a:p>
            <a:pPr>
              <a:buFont typeface="+mj-lt"/>
              <a:buAutoNum type="arabicPeriod"/>
            </a:pPr>
            <a:r>
              <a:rPr lang="en-GB" sz="2000" dirty="0"/>
              <a:t>Marketing Channel – filter Email, Social Media, Search, etc. </a:t>
            </a:r>
          </a:p>
          <a:p>
            <a:pPr>
              <a:buFont typeface="+mj-lt"/>
              <a:buAutoNum type="arabicPeriod"/>
            </a:pPr>
            <a:r>
              <a:rPr lang="en-GB" sz="2000" dirty="0"/>
              <a:t>Location – compare campaign performance by location. </a:t>
            </a:r>
          </a:p>
          <a:p>
            <a:pPr>
              <a:buFont typeface="+mj-lt"/>
              <a:buAutoNum type="arabicPeriod"/>
            </a:pPr>
            <a:r>
              <a:rPr lang="en-GB" sz="2000" dirty="0"/>
              <a:t>Device – filter Mobile, Desktop, Tablet. </a:t>
            </a:r>
          </a:p>
          <a:p>
            <a:pPr>
              <a:buFont typeface="+mj-lt"/>
              <a:buAutoNum type="arabicPeriod"/>
            </a:pPr>
            <a:r>
              <a:rPr lang="en-GB" sz="2000" dirty="0"/>
              <a:t>Campaign Code – select a specific campaign. </a:t>
            </a:r>
          </a:p>
          <a:p>
            <a:r>
              <a:rPr lang="en-GB" sz="2000" dirty="0"/>
              <a:t>Campaign Date | Campaign Type | Marketing Channel | Location | Device | Campaign Code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53846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537826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2B48"/>
                </a:solidFill>
              </a:defRPr>
            </a:pPr>
            <a:r>
              <a:rPr lang="en-IN" dirty="0"/>
              <a:t>7</a:t>
            </a:r>
            <a:r>
              <a:rPr dirty="0"/>
              <a:t>. Recommended Dashboard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830"/>
                </a:solidFill>
              </a:defRPr>
            </a:pPr>
            <a:r>
              <a:t>Suggested Power BI page structure based on the Excel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205740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2B48"/>
                </a:solidFill>
              </a:defRPr>
            </a:pPr>
            <a:r>
              <a:t>75.7M</a:t>
            </a:r>
          </a:p>
          <a:p>
            <a:pPr algn="ctr">
              <a:defRPr sz="1000">
                <a:solidFill>
                  <a:srgbClr val="232830"/>
                </a:solidFill>
              </a:defRPr>
            </a:pPr>
            <a:r>
              <a:t>Spend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97479" y="1051560"/>
            <a:ext cx="205740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2B48"/>
                </a:solidFill>
              </a:defRPr>
            </a:pPr>
            <a:r>
              <a:t>2.17B</a:t>
            </a:r>
          </a:p>
          <a:p>
            <a:pPr algn="ctr">
              <a:defRPr sz="1000">
                <a:solidFill>
                  <a:srgbClr val="232830"/>
                </a:solidFill>
              </a:defRPr>
            </a:pPr>
            <a:r>
              <a:t>Revenue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051560"/>
            <a:ext cx="205740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2B48"/>
                </a:solidFill>
              </a:defRPr>
            </a:pPr>
            <a:r>
              <a:t>1.63M</a:t>
            </a:r>
          </a:p>
          <a:p>
            <a:pPr algn="ctr">
              <a:defRPr sz="1000">
                <a:solidFill>
                  <a:srgbClr val="232830"/>
                </a:solidFill>
              </a:defRPr>
            </a:pPr>
            <a:r>
              <a:t>Conversions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19" y="1051560"/>
            <a:ext cx="205740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2B48"/>
                </a:solidFill>
              </a:defRPr>
            </a:pPr>
            <a:r>
              <a:t>8.06%</a:t>
            </a:r>
          </a:p>
          <a:p>
            <a:pPr algn="ctr">
              <a:defRPr sz="1000">
                <a:solidFill>
                  <a:srgbClr val="232830"/>
                </a:solidFill>
              </a:defRPr>
            </a:pPr>
            <a:r>
              <a:t>CTR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1051560"/>
            <a:ext cx="205740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2B48"/>
                </a:solidFill>
              </a:defRPr>
            </a:pPr>
            <a:r>
              <a:t>2771%</a:t>
            </a:r>
          </a:p>
          <a:p>
            <a:pPr algn="ctr">
              <a:defRPr sz="1000">
                <a:solidFill>
                  <a:srgbClr val="232830"/>
                </a:solidFill>
              </a:defRPr>
            </a:pPr>
            <a:r>
              <a:t>ROI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31720"/>
            <a:ext cx="347472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A2B48"/>
                </a:solidFill>
              </a:defRPr>
            </a:pPr>
            <a:r>
              <a:t>Channel Performance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2331720"/>
            <a:ext cx="347472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A2B48"/>
                </a:solidFill>
              </a:defRPr>
            </a:pPr>
            <a:r>
              <a:t>Campaign 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331720"/>
            <a:ext cx="38404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A2B48"/>
                </a:solidFill>
              </a:defRPr>
            </a:pPr>
            <a:r>
              <a:t>Location / Device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77639"/>
            <a:ext cx="347472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A2B48"/>
                </a:solidFill>
              </a:defRPr>
            </a:pPr>
            <a:r>
              <a:t>Monthly Revenue / Conversion Trend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1" y="3977639"/>
            <a:ext cx="347472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A2B48"/>
                </a:solidFill>
              </a:defRPr>
            </a:pPr>
            <a:r>
              <a:rPr lang="en-IN" dirty="0"/>
              <a:t>Engagement and conversations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40080" y="5715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32830"/>
                </a:solidFill>
              </a:defRPr>
            </a:pPr>
            <a:r>
              <a:t>Use drill-down and slicers to move from overall KPIs to channel, campaign type, location, device and individual campaign performance.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830"/>
                </a:solidFill>
              </a:defRPr>
            </a:pPr>
            <a:r>
              <a:t>15</a:t>
            </a:r>
          </a:p>
        </p:txBody>
      </p:sp>
      <p:sp>
        <p:nvSpPr>
          <p:cNvPr id="16" name="Rounded Rectangle 10">
            <a:extLst>
              <a:ext uri="{FF2B5EF4-FFF2-40B4-BE49-F238E27FC236}">
                <a16:creationId xmlns:a16="http://schemas.microsoft.com/office/drawing/2014/main" id="{1AA49AE1-064B-4733-867B-840C6DCC246A}"/>
              </a:ext>
            </a:extLst>
          </p:cNvPr>
          <p:cNvSpPr/>
          <p:nvPr/>
        </p:nvSpPr>
        <p:spPr>
          <a:xfrm>
            <a:off x="7863840" y="3977639"/>
            <a:ext cx="384048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0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A2B48"/>
                </a:solidFill>
              </a:defRPr>
            </a:pPr>
            <a:r>
              <a:rPr lang="en-IN" dirty="0"/>
              <a:t>Revenue and ROI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20AD61-FFA6-42A9-90B7-531E30C79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36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3A0548-1EE4-4007-A940-1492BD270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182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209544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A2B48"/>
                </a:solidFill>
              </a:defRPr>
            </a:pPr>
            <a:r>
              <a:rPr lang="en-IN" dirty="0"/>
              <a:t>8</a:t>
            </a:r>
            <a:r>
              <a:rPr dirty="0"/>
              <a:t>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sz="2000" dirty="0"/>
              <a:t>The workbook contains 3,000 campaign records covering the full year 2025.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sz="2000" dirty="0"/>
              <a:t>Total revenue is $2.17B against $75.66M campaign spend.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sz="2000" dirty="0"/>
              <a:t>The overall CTR is 8.06% and the overall conversion rate is 13.37%.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sz="2000" dirty="0"/>
              <a:t>Product Launch leads campaign-type revenue, while Product Launch leads campaign-type ROI.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sz="2000" dirty="0"/>
              <a:t>Hyderabad is the strongest location by calculated ROI, while Desktop leads device conversions.</a:t>
            </a:r>
          </a:p>
          <a:p>
            <a:pPr>
              <a:spcAft>
                <a:spcPts val="800"/>
              </a:spcAft>
              <a:defRPr sz="1500">
                <a:solidFill>
                  <a:srgbClr val="232830"/>
                </a:solidFill>
              </a:defRPr>
            </a:pPr>
            <a:r>
              <a:rPr sz="2000" dirty="0"/>
              <a:t>The dashboard can convert these findings into actionable decisions on budget allocation, targeting and campaign optimization.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32830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Red">
    <a:dk1>
      <a:sysClr val="windowText" lastClr="000000"/>
    </a:dk1>
    <a:lt1>
      <a:sysClr val="window" lastClr="FFFFFF"/>
    </a:lt1>
    <a:dk2>
      <a:srgbClr val="323232"/>
    </a:dk2>
    <a:lt2>
      <a:srgbClr val="E5C243"/>
    </a:lt2>
    <a:accent1>
      <a:srgbClr val="A5300F"/>
    </a:accent1>
    <a:accent2>
      <a:srgbClr val="D55816"/>
    </a:accent2>
    <a:accent3>
      <a:srgbClr val="E19825"/>
    </a:accent3>
    <a:accent4>
      <a:srgbClr val="B19C7D"/>
    </a:accent4>
    <a:accent5>
      <a:srgbClr val="7F5F52"/>
    </a:accent5>
    <a:accent6>
      <a:srgbClr val="B27D49"/>
    </a:accent6>
    <a:hlink>
      <a:srgbClr val="6B9F25"/>
    </a:hlink>
    <a:folHlink>
      <a:srgbClr val="B26B02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Red">
    <a:dk1>
      <a:sysClr val="windowText" lastClr="000000"/>
    </a:dk1>
    <a:lt1>
      <a:sysClr val="window" lastClr="FFFFFF"/>
    </a:lt1>
    <a:dk2>
      <a:srgbClr val="323232"/>
    </a:dk2>
    <a:lt2>
      <a:srgbClr val="E5C243"/>
    </a:lt2>
    <a:accent1>
      <a:srgbClr val="A5300F"/>
    </a:accent1>
    <a:accent2>
      <a:srgbClr val="D55816"/>
    </a:accent2>
    <a:accent3>
      <a:srgbClr val="E19825"/>
    </a:accent3>
    <a:accent4>
      <a:srgbClr val="B19C7D"/>
    </a:accent4>
    <a:accent5>
      <a:srgbClr val="7F5F52"/>
    </a:accent5>
    <a:accent6>
      <a:srgbClr val="B27D49"/>
    </a:accent6>
    <a:hlink>
      <a:srgbClr val="6B9F25"/>
    </a:hlink>
    <a:folHlink>
      <a:srgbClr val="B26B02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1061</Words>
  <Application>Microsoft Office PowerPoint</Application>
  <PresentationFormat>Widescreen</PresentationFormat>
  <Paragraphs>155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-apple-system-body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Lenovo</dc:creator>
  <cp:keywords/>
  <dc:description>generated using python-pptx</dc:description>
  <cp:lastModifiedBy>Lenovo</cp:lastModifiedBy>
  <cp:revision>2</cp:revision>
  <dcterms:created xsi:type="dcterms:W3CDTF">2013-01-27T09:14:16Z</dcterms:created>
  <dcterms:modified xsi:type="dcterms:W3CDTF">2026-10-04T10:10:52Z</dcterms:modified>
  <cp:category/>
</cp:coreProperties>
</file>